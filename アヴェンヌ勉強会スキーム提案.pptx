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640080"/>
            <a:ext cx="1371600" cy="1371600"/>
          </a:xfrm>
          <a:prstGeom prst="ellipse">
            <a:avLst/>
          </a:prstGeom>
          <a:solidFill>
            <a:srgbClr val="4E9AA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1737360"/>
            <a:ext cx="640080" cy="640080"/>
          </a:xfrm>
          <a:prstGeom prst="ellipse">
            <a:avLst/>
          </a:prstGeom>
          <a:solidFill>
            <a:srgbClr val="0E6B7E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612880" y="2468880"/>
            <a:ext cx="411480" cy="411480"/>
          </a:xfrm>
          <a:prstGeom prst="ellipse">
            <a:avLst/>
          </a:prstGeom>
          <a:solidFill>
            <a:srgbClr val="9FCAD3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 × アヴェンヌ  ｜  スキームご提案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アヴェンヌ ユーザー勉強会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実施スキーム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1日・並行2部屋・8セッションで、“売れる訴求” を発掘する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2926080" cy="0"/>
          </a:xfrm>
          <a:prstGeom prst="line">
            <a:avLst/>
          </a:prstGeom>
          <a:noFill/>
          <a:ln w="25400">
            <a:solidFill>
              <a:srgbClr val="DDA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開催予定  2026年 8〜9月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  CreativeGroup オフィス（並行2部屋）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スキーム全体像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73936"/>
            <a:ext cx="521208" cy="521208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474" y="1930298"/>
            <a:ext cx="208483" cy="208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00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1日完結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2624328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96112" y="2798064"/>
            <a:ext cx="521208" cy="521208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74" y="2954426"/>
            <a:ext cx="208483" cy="2084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62432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並行2部屋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40080" y="3648456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96112" y="3822192"/>
            <a:ext cx="521208" cy="521208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474" y="3978554"/>
            <a:ext cx="208483" cy="2084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64845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8セッション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40080" y="4672584"/>
            <a:ext cx="4937760" cy="868680"/>
          </a:xfrm>
          <a:prstGeom prst="roundRect">
            <a:avLst>
              <a:gd name="adj" fmla="val 8421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96112" y="4846320"/>
            <a:ext cx="521208" cy="521208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474" y="5002682"/>
            <a:ext cx="208483" cy="2084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67258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6名 / 計48名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080760" y="1600200"/>
            <a:ext cx="5470855" cy="4050792"/>
          </a:xfrm>
          <a:prstGeom prst="roundRect">
            <a:avLst>
              <a:gd name="adj" fmla="val 1806"/>
            </a:avLst>
          </a:prstGeom>
          <a:solidFill>
            <a:srgbClr val="0B3B45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悩み・使用文脈 × 商品トラック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6400800" y="2331720"/>
            <a:ext cx="2331720" cy="1188720"/>
          </a:xfrm>
          <a:prstGeom prst="roundRect">
            <a:avLst>
              <a:gd name="adj" fmla="val 5385"/>
            </a:avLst>
          </a:prstGeom>
          <a:solidFill>
            <a:srgbClr val="0F4A57"/>
          </a:solidFill>
          <a:ln/>
        </p:spPr>
      </p:sp>
      <p:sp>
        <p:nvSpPr>
          <p:cNvPr id="23" name="Text 17"/>
          <p:cNvSpPr/>
          <p:nvPr/>
        </p:nvSpPr>
        <p:spPr>
          <a:xfrm>
            <a:off x="64008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セグメント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4008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悩み・使用文脈 4段階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8915400" y="2331720"/>
            <a:ext cx="2331720" cy="1188720"/>
          </a:xfrm>
          <a:prstGeom prst="roundRect">
            <a:avLst>
              <a:gd name="adj" fmla="val 5385"/>
            </a:avLst>
          </a:prstGeom>
          <a:solidFill>
            <a:srgbClr val="0F4A57"/>
          </a:solidFill>
          <a:ln/>
        </p:spPr>
      </p:sp>
      <p:sp>
        <p:nvSpPr>
          <p:cNvPr id="26" name="Text 20"/>
          <p:cNvSpPr/>
          <p:nvPr/>
        </p:nvSpPr>
        <p:spPr>
          <a:xfrm>
            <a:off x="89154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トラック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8915400" y="30175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シカ ／ ビタミン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732520" y="265176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640080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＝ 8 セッション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6400800" y="48920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 →  訴求軸で整理 →  オリエンシート →  口コミ・広告へ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セグメント設計 — 誰から何を掘るか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軸は「悩み・使用文脈」の1本。悩み駆動度が高い順にS1→S4で、掘れる訴求が変わる。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S1｜課題解決層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明確な肌悩みを抱え、解決策を能動的に探す層。何に困り、何で解決したいか。➜ 効能・成分が刺さる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031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S2｜予防・習慣層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871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大きな悩みはなく、予防・維持の“お守り”使い。いつ・どの場面で使うか。➜ 使用シーン・習慣が刺さる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S3｜乗り換え検討層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9959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今は他ブランドの類似品を使用中。不満と乗り換え動機はどこか。➜ 差別化・独自成分が刺さる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42900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S4｜カテゴリ未使用層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99592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該当カテゴリ（シカ／ビタミン美容液）を未使用。第一印象の生の反応＝新規訴求の宝庫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0B3B45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502920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全セッション共通で必ず聴取（属性タグ）：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認知（既知/未知）  /  商品選定基準  /  コスト感  /  1日の使用シーン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トラックA：シカ（リペア）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623560" cy="4343400"/>
          </a:xfrm>
          <a:prstGeom prst="roundRect">
            <a:avLst>
              <a:gd name="adj" fmla="val 1684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28800"/>
            <a:ext cx="777240" cy="77724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206197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課題：本来価値が届いていない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743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“乾燥対策クリーム” の認知が先行し、本来の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「肌荒れを治す・免疫を高める」価値が伝わっていない。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掘る狙い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397764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使用シーンの2軸：トラブルケア／毎日の予防お守り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使い方ステップ（例：手荒れ→シカで治す→ハンドクリーム）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リップを入口に、シカクリームへ導く導線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583680" y="1554480"/>
            <a:ext cx="4967935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037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気づきワード候補（例）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03720" y="2286000"/>
            <a:ext cx="4327855" cy="658368"/>
          </a:xfrm>
          <a:prstGeom prst="roundRect">
            <a:avLst>
              <a:gd name="adj" fmla="val 11111"/>
            </a:avLst>
          </a:prstGeom>
          <a:solidFill>
            <a:srgbClr val="EBF4F6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86600" y="2432304"/>
            <a:ext cx="365760" cy="365760"/>
          </a:xfrm>
          <a:prstGeom prst="ellipse">
            <a:avLst/>
          </a:prstGeom>
          <a:solidFill>
            <a:srgbClr val="4E9AAC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2542032"/>
            <a:ext cx="146304" cy="1463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286000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「季節の変わり目の“駆け込み”」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903720" y="3127248"/>
            <a:ext cx="4327855" cy="658368"/>
          </a:xfrm>
          <a:prstGeom prst="roundRect">
            <a:avLst>
              <a:gd name="adj" fmla="val 11111"/>
            </a:avLst>
          </a:prstGeom>
          <a:solidFill>
            <a:srgbClr val="EBF4F6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86600" y="3273552"/>
            <a:ext cx="365760" cy="365760"/>
          </a:xfrm>
          <a:prstGeom prst="ellipse">
            <a:avLst/>
          </a:prstGeom>
          <a:solidFill>
            <a:srgbClr val="4E9AAC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3383280"/>
            <a:ext cx="146304" cy="1463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635240" y="3127248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「荒れる前に塗る“お守り”」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903720" y="3968496"/>
            <a:ext cx="4327855" cy="658368"/>
          </a:xfrm>
          <a:prstGeom prst="roundRect">
            <a:avLst>
              <a:gd name="adj" fmla="val 11111"/>
            </a:avLst>
          </a:prstGeom>
          <a:solidFill>
            <a:srgbClr val="EBF4F6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086600" y="4114800"/>
            <a:ext cx="365760" cy="365760"/>
          </a:xfrm>
          <a:prstGeom prst="ellipse">
            <a:avLst/>
          </a:prstGeom>
          <a:solidFill>
            <a:srgbClr val="4E9AAC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4224528"/>
            <a:ext cx="146304" cy="14630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635240" y="3968496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「手荒れの“応急処置”」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903720" y="4809744"/>
            <a:ext cx="4327855" cy="658368"/>
          </a:xfrm>
          <a:prstGeom prst="roundRect">
            <a:avLst>
              <a:gd name="adj" fmla="val 11111"/>
            </a:avLst>
          </a:prstGeom>
          <a:solidFill>
            <a:srgbClr val="EBF4F6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086600" y="4956048"/>
            <a:ext cx="365760" cy="365760"/>
          </a:xfrm>
          <a:prstGeom prst="ellipse">
            <a:avLst/>
          </a:prstGeom>
          <a:solidFill>
            <a:srgbClr val="4E9AAC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5065776"/>
            <a:ext cx="146304" cy="14630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35240" y="4809744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「トリクセラとの“合わせ使い”」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&amp; SPECIAL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トラックB：ビタミン（C）／ 別枠：デルマオプスル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シーセラム × Cプラスクリーム ＝ “選好テスト”（効果は同等）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6771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84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セラム派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「朝・ベタつかない・すっと入る」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20440" y="18745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94760" y="2103120"/>
            <a:ext cx="548640" cy="54864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22677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80560" y="2084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クリーム派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94760" y="2697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「夜・密封感・満たされる」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92240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DA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7086600" y="1874520"/>
            <a:ext cx="4465015" cy="1554480"/>
          </a:xfrm>
          <a:prstGeom prst="roundRect">
            <a:avLst>
              <a:gd name="adj" fmla="val 4706"/>
            </a:avLst>
          </a:prstGeom>
          <a:solidFill>
            <a:srgbClr val="0B3B45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7406640" y="1874520"/>
            <a:ext cx="38249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“どっち派＋なぜ” の分布がデータに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押し出すSKU・訴求・デモグラを見極める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差別化ポジション：敏感肌 × ビタミンC（マスブランドに競合が少ない）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0080" y="4114800"/>
            <a:ext cx="10911535" cy="1737360"/>
          </a:xfrm>
          <a:prstGeom prst="roundRect">
            <a:avLst>
              <a:gd name="adj" fmla="val 4211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005840" y="443484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468172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05740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別枠：デルマオプスル ナイトクリーム（EC限定・¥10,000超・35〜40前半）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2057400" y="4800600"/>
            <a:ext cx="90827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8回転の発掘勉強会からは切り離し、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「発売前にモニターへ先行配布 → サイト解禁と同時に口コミ一斉投稿」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のスキームで別途設計（高価格・使い続け前提・購入前リサーチが強いため）。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セッションの3フェーズ（90分）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685800" cy="6858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299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ユーザー自発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71455" y="1920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31343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ブランドは聞き役。全セッション同一の中立設問。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615184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例：「一言で言うと？」「1日のどこで使う？」「選ぶ時に何を見る？」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154680"/>
            <a:ext cx="10911535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447288"/>
            <a:ext cx="685800" cy="6858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472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28800" y="33375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ブランド提示 ＋ 変化観測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271455" y="3337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373075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担当者が“本来の効能”をセグメント別に説明。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4032504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P1と同じ問いを再度 → 認識の“変化（デルタ）”を記録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911535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864608"/>
            <a:ext cx="685800" cy="6858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6460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828800" y="4754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選好・体験・投稿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271455" y="4754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14807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（ビタミン軸）どっち派＋なぜ。体験・お土産。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5449824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オーガニック投稿をご案内（投稿は最後・本音を歪めない）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“変化（デルタ）” の捉え方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同じ問いを P1（自由）と P2（ブランド説明後）で聞き、認識の変化を捉える。この差が新訴求の種。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BEFORE（P1・自由発想）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834640"/>
            <a:ext cx="640080" cy="640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30266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611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「乾燥に効く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保湿クリーム」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166360" y="3108960"/>
            <a:ext cx="822960" cy="822960"/>
          </a:xfrm>
          <a:prstGeom prst="ellipse">
            <a:avLst/>
          </a:prstGeom>
          <a:solidFill>
            <a:srgbClr val="DDA155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3355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4023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薬機法フリー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のブランド説明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309360" y="2103120"/>
            <a:ext cx="5242255" cy="2743200"/>
          </a:xfrm>
          <a:prstGeom prst="roundRect">
            <a:avLst>
              <a:gd name="adj" fmla="val 2667"/>
            </a:avLst>
          </a:prstGeom>
          <a:solidFill>
            <a:srgbClr val="0B3B45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6751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AFTER（P2・説明後）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675120" y="2834640"/>
            <a:ext cx="640080" cy="64008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302666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3611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「肌荒れを“治す”、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荒れる前のお守り」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40080" y="51206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この差分が、広告に翻訳できる“売れる訴求”。ユーザーは体験した変化を自分の言葉で投稿できる。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当日のタイムテーブル（1日・並行2部屋）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58488"/>
                <a:gridCol w="435848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スロット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A（ファシリ＋ブランド担当）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B（ファシリ＋ブランド担当）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10:00–11:30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 課題解決層 ／ シカ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 課題解決層 ／ ビタミン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11:40–13:10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 予防・習慣層 ／ シカ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 予防・習慣層 ／ ビタミン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1"/>
                    </a:solidFill>
                  </a:tcPr>
                </a:tc>
              </a:tr>
              <a:tr h="365760"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5E76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昼休憩 45分（記録整理）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13:55–15:25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 乗り換え検討層 ／ シカ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 乗り換え検討層 ／ ビタミン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6B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15:35–17:05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 カテゴリ未使用層 ／ シカ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C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 カテゴリ未使用層 ／ ビタミン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同一スロットの2部屋は“同じセグメント（トラック違い）”。ブランドのセグメント別トークは1スロット1準備で済みます。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勉強会のアウトプット（納品イメージ）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48840"/>
            <a:ext cx="822960" cy="82296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3957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気づきワード集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訴求軸（効能／情緒／使用シーン／成分／価格）で整理した候補一覧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48840"/>
            <a:ext cx="822960" cy="82296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957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刺さりマップ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89520" y="2468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どのセグメント×商品に、どの訴求が効いたかの一覧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6576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114800"/>
            <a:ext cx="822960" cy="82296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43616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オリエンシート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57400" y="4434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モニター・広告に使える形へ整えた次工程用のインプット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114800"/>
            <a:ext cx="822960" cy="822960"/>
          </a:xfrm>
          <a:prstGeom prst="ellipse">
            <a:avLst/>
          </a:prstGeom>
          <a:solidFill>
            <a:srgbClr val="0E6B7E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3616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3931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オーガニック投稿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89520" y="4434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参加者（美容モニター）が発信した草の根UGC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発掘した訴求は、そのまま口コミ（モニター）・広告・インフルエンサー施策のインプットになります。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 BEFORE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事前設計ミーティングのお願い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0" cy="4023360"/>
          </a:xfrm>
          <a:prstGeom prst="roundRect">
            <a:avLst>
              <a:gd name="adj" fmla="val 1818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勉強会を“検証実験” にする一手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当日の“ブランド説明（P2）” を場当たりにせず、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「このセグメントには、この訴求で当てにいく」という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仮説を事前にアヴェンヌ様と一緒に設計します。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座談会が“仮説の検証” になり、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どの訴求が刺さったかを精度高く見極められます。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406640" y="1691640"/>
            <a:ext cx="4144975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266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事前に固めたいこと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2560320"/>
            <a:ext cx="35048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セグメント別の訴求メッセージ仮説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薬機法フリーで語る“本来の効能”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製品の使い方ステップ・使用シーン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当日の進行・担当者の関わり方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役割分担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EBF4F6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CreativeGroup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97280" y="297180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勉強会の全体設計・進行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当日のファシリテーション運営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会場（CGオフィス・並行2部屋）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参加者（美容モニター）募集の連携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気づきワードの抽出・後工程連携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6E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B3B45">
                <a:alpha val="14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アヴェンヌ様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71800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対象商品・サンプルのご提供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薬機法フリーの“本来の効能”トーク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製品情報・エビデンスのご共有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C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事前設計ミーティングへのご参加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事前アンケートの設問設計・ファシリ台本の詳細作成は、ブランド様領域との切り分けのうえ別途ご相談。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E76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スケジュールと擦り合わせ事項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4A57"/>
          </a:solidFill>
          <a:ln w="12700">
            <a:solidFill>
              <a:srgbClr val="1D66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30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7月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624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事前設計MTG・参加者募集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12616" y="22860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404208" y="18745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4A57"/>
          </a:solidFill>
          <a:ln w="12700">
            <a:solidFill>
              <a:srgbClr val="1D66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4248" y="2130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24248" y="2624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勉強会 開催（1日・8セッション）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6743" y="228600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C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68335" y="18745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4A57"/>
          </a:solidFill>
          <a:ln w="12700">
            <a:solidFill>
              <a:srgbClr val="1D66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8375" y="2130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DA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以降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88375" y="2624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口コミ・広告・インフルへ連携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CA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擦り合わせたいこと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開催日程の確定（8〜9月）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美容モニター48名の募集方針・スケジュール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デルマオプスルの先行配布→解禁UGC設計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事前アンケート・ファシリ台本の分担（費用含む）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CreativeGroup × アヴェンヌ</a:t>
            </a:r>
            <a:pPr algn="l" indent="0" marL="0">
              <a:buNone/>
            </a:pPr>
            <a:r>
              <a:rPr lang="en-US" sz="800" dirty="0">
                <a:solidFill>
                  <a:srgbClr val="8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機密・擦り合わせ用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094415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アヴェンヌ ユーザー勉強会 実施スキーム</dc:title>
  <dc:subject>PptxGenJS Presentation</dc:subject>
  <dc:creator>CreativeGroup</dc:creator>
  <cp:lastModifiedBy>CreativeGroup</cp:lastModifiedBy>
  <cp:revision>1</cp:revision>
  <dcterms:created xsi:type="dcterms:W3CDTF">2026-07-09T07:25:45Z</dcterms:created>
  <dcterms:modified xsi:type="dcterms:W3CDTF">2026-07-09T07:25:45Z</dcterms:modified>
</cp:coreProperties>
</file>